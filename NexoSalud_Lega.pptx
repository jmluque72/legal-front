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51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0316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7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20.png"/><Relationship Id="rId4" Type="http://schemas.openxmlformats.org/officeDocument/2006/relationships/image" Target="../media/image15.png"/><Relationship Id="rId9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7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4.png"/><Relationship Id="rId9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7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5.png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7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11" Type="http://schemas.openxmlformats.org/officeDocument/2006/relationships/image" Target="../media/image36.png"/><Relationship Id="rId5" Type="http://schemas.openxmlformats.org/officeDocument/2006/relationships/image" Target="../media/image31.png"/><Relationship Id="rId10" Type="http://schemas.openxmlformats.org/officeDocument/2006/relationships/image" Target="../media/image26.png"/><Relationship Id="rId4" Type="http://schemas.openxmlformats.org/officeDocument/2006/relationships/image" Target="../media/image14.png"/><Relationship Id="rId9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5BB88A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0" y="-1371600"/>
            <a:ext cx="5486400" cy="5486400"/>
          </a:xfrm>
          <a:prstGeom prst="ellipse">
            <a:avLst/>
          </a:prstGeom>
          <a:solidFill>
            <a:srgbClr val="3A7D5A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1645920"/>
            <a:ext cx="3200400" cy="3200400"/>
          </a:xfrm>
          <a:prstGeom prst="ellipse">
            <a:avLst/>
          </a:prstGeom>
          <a:solidFill>
            <a:srgbClr val="5BB88A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"/>
            <a:ext cx="384048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20040" y="3063240"/>
            <a:ext cx="5029200" cy="45720"/>
          </a:xfrm>
          <a:prstGeom prst="rect">
            <a:avLst/>
          </a:prstGeom>
          <a:solidFill>
            <a:srgbClr val="5BB88A"/>
          </a:solidFill>
          <a:ln/>
        </p:spPr>
      </p:sp>
      <p:sp>
        <p:nvSpPr>
          <p:cNvPr id="8" name="Text 5"/>
          <p:cNvSpPr/>
          <p:nvPr/>
        </p:nvSpPr>
        <p:spPr>
          <a:xfrm>
            <a:off x="320040" y="321868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E4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legal especializada en derecho de la salud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20040" y="373075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Deck para Inversores  ·  MVP / Prototipo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0040" y="4370832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3A7D5A">
              <a:alpha val="8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320040" y="437083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Derecho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011680" y="4370832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3A7D5A">
              <a:alpha val="8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2011680" y="437083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Medicina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703320" y="4370832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3A7D5A">
              <a:alpha val="80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3703320" y="437083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Ética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394960" y="4370832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3A7D5A">
              <a:alpha val="80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5394960" y="437083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Humanidad</a:t>
            </a:r>
            <a:endParaRPr lang="en-US" sz="1000" dirty="0"/>
          </a:p>
        </p:txBody>
      </p:sp>
      <p:pic>
        <p:nvPicPr>
          <p:cNvPr id="18" name="Imagen 17"/>
          <p:cNvPicPr/>
          <p:nvPr/>
        </p:nvPicPr>
        <p:blipFill>
          <a:blip r:embed="rId3"/>
          <a:stretch>
            <a:fillRect/>
          </a:stretch>
        </p:blipFill>
        <p:spPr>
          <a:xfrm>
            <a:off x="501650" y="182881"/>
            <a:ext cx="347726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5BB88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457200" y="117043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días, personas enfrentan situaciones como estas: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74320" y="1691640"/>
            <a:ext cx="1572768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74320" y="1691640"/>
            <a:ext cx="1572768" cy="64008"/>
          </a:xfrm>
          <a:prstGeom prst="rect">
            <a:avLst/>
          </a:prstGeom>
          <a:solidFill>
            <a:srgbClr val="1B3A6B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187452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7472" y="2423160"/>
            <a:ext cx="14264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obra social niega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tratamiento urgente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1993392" y="1691640"/>
            <a:ext cx="1572768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1993392" y="1691640"/>
            <a:ext cx="1572768" cy="64008"/>
          </a:xfrm>
          <a:prstGeom prst="rect">
            <a:avLst/>
          </a:prstGeom>
          <a:solidFill>
            <a:srgbClr val="1B3A6B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1176" y="187452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066544" y="2423160"/>
            <a:ext cx="14264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medicamento crítico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llega a tiempo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3712464" y="1691640"/>
            <a:ext cx="1572768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3712464" y="1691640"/>
            <a:ext cx="1572768" cy="64008"/>
          </a:xfrm>
          <a:prstGeom prst="rect">
            <a:avLst/>
          </a:prstGeom>
          <a:solidFill>
            <a:srgbClr val="1B3A6B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0248" y="187452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785616" y="2423160"/>
            <a:ext cx="14264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adulto mayor queda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desprotegido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5431536" y="1691640"/>
            <a:ext cx="1572768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5431536" y="1691640"/>
            <a:ext cx="1572768" cy="64008"/>
          </a:xfrm>
          <a:prstGeom prst="rect">
            <a:avLst/>
          </a:prstGeom>
          <a:solidFill>
            <a:srgbClr val="3A7D5A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9320" y="1874520"/>
            <a:ext cx="457200" cy="4572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504688" y="2423160"/>
            <a:ext cx="14264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familia no sabe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iniciar una acción judicial</a:t>
            </a:r>
            <a:endParaRPr lang="en-US" sz="1050" dirty="0"/>
          </a:p>
        </p:txBody>
      </p:sp>
      <p:sp>
        <p:nvSpPr>
          <p:cNvPr id="23" name="Shape 16"/>
          <p:cNvSpPr/>
          <p:nvPr/>
        </p:nvSpPr>
        <p:spPr>
          <a:xfrm>
            <a:off x="7150608" y="1691640"/>
            <a:ext cx="1572768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4" name="Shape 17"/>
          <p:cNvSpPr/>
          <p:nvPr/>
        </p:nvSpPr>
        <p:spPr>
          <a:xfrm>
            <a:off x="7150608" y="1691640"/>
            <a:ext cx="1572768" cy="64008"/>
          </a:xfrm>
          <a:prstGeom prst="rect">
            <a:avLst/>
          </a:prstGeom>
          <a:solidFill>
            <a:srgbClr val="3A7D5A"/>
          </a:solidFill>
          <a:ln/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08392" y="1874520"/>
            <a:ext cx="457200" cy="4572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223760" y="2423160"/>
            <a:ext cx="14264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caso llega tarde,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 documentado y en estado crítico</a:t>
            </a:r>
            <a:endParaRPr lang="en-US" sz="1050" dirty="0"/>
          </a:p>
        </p:txBody>
      </p:sp>
      <p:sp>
        <p:nvSpPr>
          <p:cNvPr id="27" name="Shape 19"/>
          <p:cNvSpPr/>
          <p:nvPr/>
        </p:nvSpPr>
        <p:spPr>
          <a:xfrm>
            <a:off x="0" y="4224528"/>
            <a:ext cx="9144000" cy="9144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8" name="Shape 20"/>
          <p:cNvSpPr/>
          <p:nvPr/>
        </p:nvSpPr>
        <p:spPr>
          <a:xfrm>
            <a:off x="0" y="4224528"/>
            <a:ext cx="64008" cy="914400"/>
          </a:xfrm>
          <a:prstGeom prst="rect">
            <a:avLst/>
          </a:prstGeom>
          <a:solidFill>
            <a:srgbClr val="5BB88A"/>
          </a:solidFill>
          <a:ln/>
        </p:spPr>
      </p:sp>
      <p:sp>
        <p:nvSpPr>
          <p:cNvPr id="29" name="Text 21"/>
          <p:cNvSpPr/>
          <p:nvPr/>
        </p:nvSpPr>
        <p:spPr>
          <a:xfrm>
            <a:off x="274320" y="4315968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no es solo legal. Es médico, ético, humano y estructural.</a:t>
            </a:r>
            <a:endParaRPr lang="en-US" sz="1350" dirty="0"/>
          </a:p>
        </p:txBody>
      </p:sp>
      <p:sp>
        <p:nvSpPr>
          <p:cNvPr id="30" name="Text 22"/>
          <p:cNvSpPr/>
          <p:nvPr/>
        </p:nvSpPr>
        <p:spPr>
          <a:xfrm>
            <a:off x="274320" y="46817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B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NexoSalud Legal nace para ordenar ese caos.</a:t>
            </a:r>
            <a:endParaRPr lang="en-US" sz="1200" dirty="0"/>
          </a:p>
        </p:txBody>
      </p:sp>
      <p:pic>
        <p:nvPicPr>
          <p:cNvPr id="31" name="Imagen 30"/>
          <p:cNvPicPr/>
          <p:nvPr/>
        </p:nvPicPr>
        <p:blipFill>
          <a:blip r:embed="rId8"/>
          <a:stretch>
            <a:fillRect/>
          </a:stretch>
        </p:blipFill>
        <p:spPr>
          <a:xfrm>
            <a:off x="7223760" y="-11489"/>
            <a:ext cx="1920240" cy="99904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BB88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91440"/>
            <a:ext cx="1097280" cy="8686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0116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NexoSalud Legal?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65760" y="960120"/>
            <a:ext cx="8412480" cy="1097280"/>
          </a:xfrm>
          <a:prstGeom prst="rect">
            <a:avLst/>
          </a:prstGeom>
          <a:solidFill>
            <a:srgbClr val="0C2840"/>
          </a:solidFill>
          <a:ln/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65760" y="960120"/>
            <a:ext cx="64008" cy="1097280"/>
          </a:xfrm>
          <a:prstGeom prst="rect">
            <a:avLst/>
          </a:prstGeom>
          <a:solidFill>
            <a:srgbClr val="5BB88A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024128"/>
            <a:ext cx="7955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infraestructura legal especializada, diseñada para que los casos de salud se analicen y gestionen con rigor, rapidez y humanidad.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365760" y="2331720"/>
            <a:ext cx="2651760" cy="2377440"/>
          </a:xfrm>
          <a:prstGeom prst="rect">
            <a:avLst/>
          </a:prstGeom>
          <a:solidFill>
            <a:srgbClr val="0C3250"/>
          </a:solidFill>
          <a:ln/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65760" y="2331720"/>
            <a:ext cx="2651760" cy="64008"/>
          </a:xfrm>
          <a:prstGeom prst="rect">
            <a:avLst/>
          </a:prstGeom>
          <a:solidFill>
            <a:srgbClr val="5BB88A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3040" y="2496312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5488" y="3035808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F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No es un estudio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EF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jurídico tradicional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40080" y="3675888"/>
            <a:ext cx="2103120" cy="0"/>
          </a:xfrm>
          <a:prstGeom prst="line">
            <a:avLst/>
          </a:prstGeom>
          <a:noFill/>
          <a:ln w="12700">
            <a:solidFill>
              <a:srgbClr val="3A5A7A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75488" y="374904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BB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Es una plataforma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5BB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gestión de casos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200400" y="2331720"/>
            <a:ext cx="2651760" cy="2377440"/>
          </a:xfrm>
          <a:prstGeom prst="rect">
            <a:avLst/>
          </a:prstGeom>
          <a:solidFill>
            <a:srgbClr val="0B2840"/>
          </a:solidFill>
          <a:ln/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200400" y="2331720"/>
            <a:ext cx="2651760" cy="64008"/>
          </a:xfrm>
          <a:prstGeom prst="rect">
            <a:avLst/>
          </a:prstGeom>
          <a:solidFill>
            <a:srgbClr val="5BB88A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0" y="2496312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310128" y="3035808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F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No reemplaza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EF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los abogados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3474720" y="3675888"/>
            <a:ext cx="2103120" cy="0"/>
          </a:xfrm>
          <a:prstGeom prst="line">
            <a:avLst/>
          </a:prstGeom>
          <a:noFill/>
          <a:ln w="12700">
            <a:solidFill>
              <a:srgbClr val="3A5A7A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3310128" y="374904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BB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Hace su trabajo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5BB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sólido y seguro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035040" y="2331720"/>
            <a:ext cx="2651760" cy="2377440"/>
          </a:xfrm>
          <a:prstGeom prst="rect">
            <a:avLst/>
          </a:prstGeom>
          <a:solidFill>
            <a:srgbClr val="0C3250"/>
          </a:solidFill>
          <a:ln/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035040" y="2331720"/>
            <a:ext cx="2651760" cy="64008"/>
          </a:xfrm>
          <a:prstGeom prst="rect">
            <a:avLst/>
          </a:prstGeom>
          <a:solidFill>
            <a:srgbClr val="5BB88A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0" y="2496312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144768" y="3035808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F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No da asesoramiento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EF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médico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6309360" y="3675888"/>
            <a:ext cx="2103120" cy="0"/>
          </a:xfrm>
          <a:prstGeom prst="line">
            <a:avLst/>
          </a:prstGeom>
          <a:noFill/>
          <a:ln w="12700">
            <a:solidFill>
              <a:srgbClr val="3A5A7A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6144768" y="374904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BB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Integra criterio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5BB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médico y bioético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5BB88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funciona?</a:t>
            </a:r>
            <a:endParaRPr lang="en-US" sz="2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54864"/>
            <a:ext cx="1097280" cy="868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1143000"/>
            <a:ext cx="196596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1143000"/>
            <a:ext cx="1965960" cy="6400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8" name="Shape 5"/>
          <p:cNvSpPr/>
          <p:nvPr/>
        </p:nvSpPr>
        <p:spPr>
          <a:xfrm>
            <a:off x="1024128" y="1298448"/>
            <a:ext cx="475488" cy="475488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9" name="Text 6"/>
          <p:cNvSpPr/>
          <p:nvPr/>
        </p:nvSpPr>
        <p:spPr>
          <a:xfrm>
            <a:off x="1024128" y="129844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" y="1920240"/>
            <a:ext cx="475488" cy="4754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65760" y="25146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inicial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65760" y="3090672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viabilidad legal, urgencia sanitaria y vía más adecuada. Evita litigios innecesarios, acelera los urgentes.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2240280" y="246888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B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2441448" y="1143000"/>
            <a:ext cx="196596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2441448" y="1143000"/>
            <a:ext cx="1965960" cy="64008"/>
          </a:xfrm>
          <a:prstGeom prst="rect">
            <a:avLst/>
          </a:prstGeom>
          <a:solidFill>
            <a:srgbClr val="3A7D5A"/>
          </a:solidFill>
          <a:ln/>
        </p:spPr>
      </p:sp>
      <p:sp>
        <p:nvSpPr>
          <p:cNvPr id="16" name="Shape 12"/>
          <p:cNvSpPr/>
          <p:nvPr/>
        </p:nvSpPr>
        <p:spPr>
          <a:xfrm>
            <a:off x="3191256" y="1298448"/>
            <a:ext cx="475488" cy="475488"/>
          </a:xfrm>
          <a:prstGeom prst="ellipse">
            <a:avLst/>
          </a:prstGeom>
          <a:solidFill>
            <a:srgbClr val="3A7D5A"/>
          </a:solidFill>
          <a:ln/>
        </p:spPr>
      </p:sp>
      <p:sp>
        <p:nvSpPr>
          <p:cNvPr id="17" name="Text 13"/>
          <p:cNvSpPr/>
          <p:nvPr/>
        </p:nvSpPr>
        <p:spPr>
          <a:xfrm>
            <a:off x="3191256" y="129844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91256" y="1920240"/>
            <a:ext cx="475488" cy="47548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532888" y="25146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Derivación al módulo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2532888" y="3090672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caso va al circuito que le corresponde, no a una bolsa genérica. 7 módulos especializados.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4407408" y="246888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B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4608576" y="1143000"/>
            <a:ext cx="196596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608576" y="1143000"/>
            <a:ext cx="1965960" cy="6400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4" name="Shape 19"/>
          <p:cNvSpPr/>
          <p:nvPr/>
        </p:nvSpPr>
        <p:spPr>
          <a:xfrm>
            <a:off x="5358384" y="1298448"/>
            <a:ext cx="475488" cy="475488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25" name="Text 20"/>
          <p:cNvSpPr/>
          <p:nvPr/>
        </p:nvSpPr>
        <p:spPr>
          <a:xfrm>
            <a:off x="5358384" y="129844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58384" y="1920240"/>
            <a:ext cx="475488" cy="47548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4700016" y="25146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Acompañamiento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4700016" y="3090672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 documentación, define estrategia, controla plazos y supervisa el cumplimiento efectivo.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6574536" y="246888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B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Shape 24"/>
          <p:cNvSpPr/>
          <p:nvPr/>
        </p:nvSpPr>
        <p:spPr>
          <a:xfrm>
            <a:off x="6775704" y="1143000"/>
            <a:ext cx="196596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6775704" y="1143000"/>
            <a:ext cx="1965960" cy="64008"/>
          </a:xfrm>
          <a:prstGeom prst="rect">
            <a:avLst/>
          </a:prstGeom>
          <a:solidFill>
            <a:srgbClr val="3A7D5A"/>
          </a:solidFill>
          <a:ln/>
        </p:spPr>
      </p:sp>
      <p:sp>
        <p:nvSpPr>
          <p:cNvPr id="32" name="Shape 26"/>
          <p:cNvSpPr/>
          <p:nvPr/>
        </p:nvSpPr>
        <p:spPr>
          <a:xfrm>
            <a:off x="7525512" y="1298448"/>
            <a:ext cx="475488" cy="475488"/>
          </a:xfrm>
          <a:prstGeom prst="ellipse">
            <a:avLst/>
          </a:prstGeom>
          <a:solidFill>
            <a:srgbClr val="3A7D5A"/>
          </a:solidFill>
          <a:ln/>
        </p:spPr>
      </p:sp>
      <p:sp>
        <p:nvSpPr>
          <p:cNvPr id="33" name="Text 27"/>
          <p:cNvSpPr/>
          <p:nvPr/>
        </p:nvSpPr>
        <p:spPr>
          <a:xfrm>
            <a:off x="7525512" y="129844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5512" y="1920240"/>
            <a:ext cx="475488" cy="475488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6867144" y="25146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trazable</a:t>
            </a:r>
            <a:endParaRPr lang="en-US" sz="1200" dirty="0"/>
          </a:p>
        </p:txBody>
      </p:sp>
      <p:sp>
        <p:nvSpPr>
          <p:cNvPr id="36" name="Text 29"/>
          <p:cNvSpPr/>
          <p:nvPr/>
        </p:nvSpPr>
        <p:spPr>
          <a:xfrm>
            <a:off x="6867144" y="3090672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queda registrado, medido y auditable. Nada librado al azar.</a:t>
            </a:r>
            <a:endParaRPr lang="en-US" sz="1000" dirty="0"/>
          </a:p>
        </p:txBody>
      </p:sp>
      <p:sp>
        <p:nvSpPr>
          <p:cNvPr id="37" name="Shape 3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8" name="Text 31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B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queda registrado, medido y auditable — nada queda librado al azar.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BB88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91440"/>
            <a:ext cx="1097280" cy="8686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6459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Especializados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73152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B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caso va al circuito que le corresponde — no a una bolsa genérica.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256032" y="1234440"/>
            <a:ext cx="1874520" cy="1325880"/>
          </a:xfrm>
          <a:prstGeom prst="rect">
            <a:avLst/>
          </a:prstGeom>
          <a:solidFill>
            <a:srgbClr val="0C3250"/>
          </a:solidFill>
          <a:ln/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56032" y="1234440"/>
            <a:ext cx="64008" cy="1325880"/>
          </a:xfrm>
          <a:prstGeom prst="rect">
            <a:avLst/>
          </a:prstGeom>
          <a:solidFill>
            <a:srgbClr val="5BB88A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" y="1664208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96112" y="1463040"/>
            <a:ext cx="1124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Amparos de salud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2331720" y="1234440"/>
            <a:ext cx="1874520" cy="1325880"/>
          </a:xfrm>
          <a:prstGeom prst="rect">
            <a:avLst/>
          </a:prstGeom>
          <a:solidFill>
            <a:srgbClr val="0C3250"/>
          </a:solidFill>
          <a:ln/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2331720" y="1234440"/>
            <a:ext cx="64008" cy="1325880"/>
          </a:xfrm>
          <a:prstGeom prst="rect">
            <a:avLst/>
          </a:prstGeom>
          <a:solidFill>
            <a:srgbClr val="5BB88A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6312" y="1664208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971800" y="1463040"/>
            <a:ext cx="1124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 praxis médica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4407408" y="1234440"/>
            <a:ext cx="1874520" cy="1325880"/>
          </a:xfrm>
          <a:prstGeom prst="rect">
            <a:avLst/>
          </a:prstGeom>
          <a:solidFill>
            <a:srgbClr val="0C3250"/>
          </a:solidFill>
          <a:ln/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4407408" y="1234440"/>
            <a:ext cx="64008" cy="1325880"/>
          </a:xfrm>
          <a:prstGeom prst="rect">
            <a:avLst/>
          </a:prstGeom>
          <a:solidFill>
            <a:srgbClr val="5BB88A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1664208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047488" y="1463040"/>
            <a:ext cx="1124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Prestaciones y reintegros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>
            <a:off x="6483096" y="1234440"/>
            <a:ext cx="1874520" cy="1325880"/>
          </a:xfrm>
          <a:prstGeom prst="rect">
            <a:avLst/>
          </a:prstGeom>
          <a:solidFill>
            <a:srgbClr val="0C3250"/>
          </a:solidFill>
          <a:ln/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483096" y="1234440"/>
            <a:ext cx="64008" cy="1325880"/>
          </a:xfrm>
          <a:prstGeom prst="rect">
            <a:avLst/>
          </a:prstGeom>
          <a:solidFill>
            <a:srgbClr val="5BB88A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7688" y="1664208"/>
            <a:ext cx="365760" cy="36576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23176" y="1463040"/>
            <a:ext cx="1124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Adultos mayores y personas con capacidad restringida</a:t>
            </a:r>
            <a:endParaRPr lang="en-US" sz="1050" dirty="0"/>
          </a:p>
        </p:txBody>
      </p:sp>
      <p:sp>
        <p:nvSpPr>
          <p:cNvPr id="22" name="Shape 15"/>
          <p:cNvSpPr/>
          <p:nvPr/>
        </p:nvSpPr>
        <p:spPr>
          <a:xfrm>
            <a:off x="1559052" y="2743200"/>
            <a:ext cx="1874520" cy="1325880"/>
          </a:xfrm>
          <a:prstGeom prst="rect">
            <a:avLst/>
          </a:prstGeom>
          <a:solidFill>
            <a:srgbClr val="0B2840"/>
          </a:solidFill>
          <a:ln/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1559052" y="2743200"/>
            <a:ext cx="64008" cy="1325880"/>
          </a:xfrm>
          <a:prstGeom prst="rect">
            <a:avLst/>
          </a:prstGeom>
          <a:solidFill>
            <a:srgbClr val="5BB88A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23644" y="3172968"/>
            <a:ext cx="365760" cy="36576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2199132" y="2971800"/>
            <a:ext cx="1124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 mental e internaciones involuntarias</a:t>
            </a:r>
            <a:endParaRPr lang="en-US" sz="1050" dirty="0"/>
          </a:p>
        </p:txBody>
      </p:sp>
      <p:sp>
        <p:nvSpPr>
          <p:cNvPr id="26" name="Shape 18"/>
          <p:cNvSpPr/>
          <p:nvPr/>
        </p:nvSpPr>
        <p:spPr>
          <a:xfrm>
            <a:off x="3634740" y="2743200"/>
            <a:ext cx="1874520" cy="1325880"/>
          </a:xfrm>
          <a:prstGeom prst="rect">
            <a:avLst/>
          </a:prstGeom>
          <a:solidFill>
            <a:srgbClr val="0B2840"/>
          </a:solidFill>
          <a:ln/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34740" y="2743200"/>
            <a:ext cx="64008" cy="1325880"/>
          </a:xfrm>
          <a:prstGeom prst="rect">
            <a:avLst/>
          </a:prstGeom>
          <a:solidFill>
            <a:srgbClr val="5BB88A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99332" y="3172968"/>
            <a:ext cx="365760" cy="36576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274820" y="2971800"/>
            <a:ext cx="1124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Segunda opinión médico-legal</a:t>
            </a:r>
            <a:endParaRPr lang="en-US" sz="1050" dirty="0"/>
          </a:p>
        </p:txBody>
      </p:sp>
      <p:sp>
        <p:nvSpPr>
          <p:cNvPr id="30" name="Shape 21"/>
          <p:cNvSpPr/>
          <p:nvPr/>
        </p:nvSpPr>
        <p:spPr>
          <a:xfrm>
            <a:off x="5710428" y="2743200"/>
            <a:ext cx="1874520" cy="1325880"/>
          </a:xfrm>
          <a:prstGeom prst="rect">
            <a:avLst/>
          </a:prstGeom>
          <a:solidFill>
            <a:srgbClr val="0B2840"/>
          </a:solidFill>
          <a:ln/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5710428" y="2743200"/>
            <a:ext cx="64008" cy="1325880"/>
          </a:xfrm>
          <a:prstGeom prst="rect">
            <a:avLst/>
          </a:prstGeom>
          <a:solidFill>
            <a:srgbClr val="5BB88A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75020" y="3172968"/>
            <a:ext cx="365760" cy="36576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6350508" y="2971800"/>
            <a:ext cx="1124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Bioética y ensayos clínicos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3A7D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5BB88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Diferenciadores Clave</a:t>
            </a:r>
            <a:endParaRPr lang="en-US" sz="2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54864"/>
            <a:ext cx="1097280" cy="868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1143000"/>
            <a:ext cx="4023360" cy="3611880"/>
          </a:xfrm>
          <a:prstGeom prst="rect">
            <a:avLst/>
          </a:prstGeom>
          <a:solidFill>
            <a:srgbClr val="1B3A6B"/>
          </a:solidFill>
          <a:ln/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1143000"/>
            <a:ext cx="4023360" cy="73152"/>
          </a:xfrm>
          <a:prstGeom prst="rect">
            <a:avLst/>
          </a:prstGeom>
          <a:solidFill>
            <a:srgbClr val="5BB88A"/>
          </a:solidFill>
          <a:ln/>
        </p:spPr>
      </p:sp>
      <p:sp>
        <p:nvSpPr>
          <p:cNvPr id="8" name="Shape 5"/>
          <p:cNvSpPr/>
          <p:nvPr/>
        </p:nvSpPr>
        <p:spPr>
          <a:xfrm>
            <a:off x="274320" y="1143000"/>
            <a:ext cx="64008" cy="3611880"/>
          </a:xfrm>
          <a:prstGeom prst="rect">
            <a:avLst/>
          </a:prstGeom>
          <a:solidFill>
            <a:srgbClr val="5BB88A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28016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05840" y="126187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CAIS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45720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B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Alto Impacto Sanitario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457200" y="217627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4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Riesgo de vida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57200" y="26517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4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Daño irreversible posible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57200" y="312724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4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Impacto colectivo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57200" y="360273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4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Conflictos éticos complejos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57200" y="4160520"/>
            <a:ext cx="3657600" cy="502920"/>
          </a:xfrm>
          <a:prstGeom prst="rect">
            <a:avLst/>
          </a:prstGeom>
          <a:solidFill>
            <a:srgbClr val="3A7D5A">
              <a:alpha val="75000"/>
            </a:srgbClr>
          </a:solidFill>
          <a:ln/>
        </p:spPr>
      </p:sp>
      <p:sp>
        <p:nvSpPr>
          <p:cNvPr id="17" name="Text 13"/>
          <p:cNvSpPr/>
          <p:nvPr/>
        </p:nvSpPr>
        <p:spPr>
          <a:xfrm>
            <a:off x="457200" y="41605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 automáticamente un nivel superior de análisis y control.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4846320" y="1143000"/>
            <a:ext cx="4023360" cy="3611880"/>
          </a:xfrm>
          <a:prstGeom prst="rect">
            <a:avLst/>
          </a:prstGeom>
          <a:solidFill>
            <a:srgbClr val="1B3A6B"/>
          </a:solidFill>
          <a:ln/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846320" y="1143000"/>
            <a:ext cx="4023360" cy="73152"/>
          </a:xfrm>
          <a:prstGeom prst="rect">
            <a:avLst/>
          </a:prstGeom>
          <a:solidFill>
            <a:srgbClr val="3A7D5A"/>
          </a:solidFill>
          <a:ln/>
        </p:spPr>
      </p:sp>
      <p:sp>
        <p:nvSpPr>
          <p:cNvPr id="20" name="Shape 16"/>
          <p:cNvSpPr/>
          <p:nvPr/>
        </p:nvSpPr>
        <p:spPr>
          <a:xfrm>
            <a:off x="4846320" y="1143000"/>
            <a:ext cx="64008" cy="3611880"/>
          </a:xfrm>
          <a:prstGeom prst="rect">
            <a:avLst/>
          </a:prstGeom>
          <a:solidFill>
            <a:srgbClr val="3A7D5A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0" y="1280160"/>
            <a:ext cx="411480" cy="4114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577840" y="126187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Bioética integrada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502920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9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el inicio del caso — no al final.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5029200" y="217627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4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Decisiones médicas críticas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5029200" y="26517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4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Consentimientos informados complejos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5029200" y="312724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4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Ensayos clínicos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5029200" y="360273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4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Personas en situación de vulnerabilidad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5029200" y="4160520"/>
            <a:ext cx="3657600" cy="502920"/>
          </a:xfrm>
          <a:prstGeom prst="rect">
            <a:avLst/>
          </a:prstGeom>
          <a:solidFill>
            <a:srgbClr val="3A7D5A">
              <a:alpha val="75000"/>
            </a:srgbClr>
          </a:solidFill>
          <a:ln/>
        </p:spPr>
      </p:sp>
      <p:sp>
        <p:nvSpPr>
          <p:cNvPr id="29" name="Text 24"/>
          <p:cNvSpPr/>
          <p:nvPr/>
        </p:nvSpPr>
        <p:spPr>
          <a:xfrm>
            <a:off x="5029200" y="41605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bioética no aparece al final: forma parte del análisis del caso.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BB88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91440"/>
            <a:ext cx="1097280" cy="8686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28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+ Abogados: la combinación correcta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274320" y="1005840"/>
            <a:ext cx="4114800" cy="3749040"/>
          </a:xfrm>
          <a:prstGeom prst="rect">
            <a:avLst/>
          </a:prstGeom>
          <a:solidFill>
            <a:srgbClr val="0C2840"/>
          </a:solidFill>
          <a:ln/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1005840"/>
            <a:ext cx="64008" cy="3749040"/>
          </a:xfrm>
          <a:prstGeom prst="rect">
            <a:avLst/>
          </a:prstGeom>
          <a:solidFill>
            <a:srgbClr val="5BB88A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143000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15568" y="109728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abogados son protagonistas,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reemplazados.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457200" y="1920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B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plataforma: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457200" y="23042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4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Evalúa el caso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457200" y="268833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4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Lo ordena y estructura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457200" y="307238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4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Aporta información estratégica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57200" y="345643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4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Genera dossier jurisprudencial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457200" y="388620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NexoSalud Legal no litiga, no firma demandas,</a:t>
            </a: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6B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presenta en tribunales.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754880" y="1005840"/>
            <a:ext cx="4114800" cy="3749040"/>
          </a:xfrm>
          <a:prstGeom prst="rect">
            <a:avLst/>
          </a:prstGeom>
          <a:solidFill>
            <a:srgbClr val="0B2840"/>
          </a:solidFill>
          <a:ln/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754880" y="1005840"/>
            <a:ext cx="64008" cy="3749040"/>
          </a:xfrm>
          <a:prstGeom prst="rect">
            <a:avLst/>
          </a:prstGeom>
          <a:solidFill>
            <a:srgbClr val="3A7D5A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114300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596128" y="10972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 Jurisprudencial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937760" y="1828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9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caso admitido: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4937760" y="224028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4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Casos similares y misma jurisdicción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4937760" y="267919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4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Extractos relevantes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4937760" y="311810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4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Argumentos reutilizables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4937760" y="3611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B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4937760" y="3977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B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Mejora la calidad del escrito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4937760" y="42702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B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Reduce tiempos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4937760" y="45628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B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Disminuye riesgos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5BB88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¿A quién está dirigida?</a:t>
            </a:r>
            <a:endParaRPr lang="en-US" sz="2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54864"/>
            <a:ext cx="1097280" cy="868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170432"/>
            <a:ext cx="256032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170432"/>
            <a:ext cx="2560320" cy="64008"/>
          </a:xfrm>
          <a:prstGeom prst="rect">
            <a:avLst/>
          </a:prstGeom>
          <a:solidFill>
            <a:srgbClr val="1B3A6B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81912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13716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y familias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1188720" y="182880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atraviesan conflictos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B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salud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3246120" y="1170432"/>
            <a:ext cx="256032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246120" y="1170432"/>
            <a:ext cx="2560320" cy="64008"/>
          </a:xfrm>
          <a:prstGeom prst="rect">
            <a:avLst/>
          </a:prstGeom>
          <a:solidFill>
            <a:srgbClr val="1B3A6B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1581912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977640" y="13716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Abogados y estudios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3977640" y="182880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Especializados en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B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derecho sanitario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6035040" y="1170432"/>
            <a:ext cx="256032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035040" y="1170432"/>
            <a:ext cx="2560320" cy="64008"/>
          </a:xfrm>
          <a:prstGeom prst="rect">
            <a:avLst/>
          </a:prstGeom>
          <a:solidFill>
            <a:srgbClr val="1B3A6B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1581912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766560" y="13716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Instituciones de salud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6766560" y="182880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Clínicas, sanatorios,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B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obras sociales, prepagas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457200" y="3026664"/>
            <a:ext cx="256032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457200" y="3026664"/>
            <a:ext cx="2560320" cy="64008"/>
          </a:xfrm>
          <a:prstGeom prst="rect">
            <a:avLst/>
          </a:prstGeom>
          <a:solidFill>
            <a:srgbClr val="3A7D5A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3438144"/>
            <a:ext cx="411480" cy="41148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188720" y="322783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Organizaciones sanitarias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1188720" y="3685032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Vinculadas a derechos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B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salud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3246120" y="3026664"/>
            <a:ext cx="256032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3246120" y="3026664"/>
            <a:ext cx="2560320" cy="64008"/>
          </a:xfrm>
          <a:prstGeom prst="rect">
            <a:avLst/>
          </a:prstGeom>
          <a:solidFill>
            <a:srgbClr val="3A7D5A"/>
          </a:solidFill>
          <a:ln/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29000" y="3438144"/>
            <a:ext cx="411480" cy="41148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3977640" y="322783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Investigación</a:t>
            </a:r>
            <a:endParaRPr lang="en-US" sz="1200" dirty="0"/>
          </a:p>
        </p:txBody>
      </p:sp>
      <p:sp>
        <p:nvSpPr>
          <p:cNvPr id="30" name="Text 22"/>
          <p:cNvSpPr/>
          <p:nvPr/>
        </p:nvSpPr>
        <p:spPr>
          <a:xfrm>
            <a:off x="3977640" y="3685032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Ensayos clínicos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B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protocolos</a:t>
            </a:r>
            <a:endParaRPr lang="en-US" sz="1050" dirty="0"/>
          </a:p>
        </p:txBody>
      </p:sp>
      <p:sp>
        <p:nvSpPr>
          <p:cNvPr id="31" name="Shape 23"/>
          <p:cNvSpPr/>
          <p:nvPr/>
        </p:nvSpPr>
        <p:spPr>
          <a:xfrm>
            <a:off x="6035040" y="3026664"/>
            <a:ext cx="256032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6035040" y="3026664"/>
            <a:ext cx="2560320" cy="64008"/>
          </a:xfrm>
          <a:prstGeom prst="rect">
            <a:avLst/>
          </a:prstGeom>
          <a:solidFill>
            <a:srgbClr val="3A7D5A"/>
          </a:solidFill>
          <a:ln/>
        </p:spPr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17920" y="3438144"/>
            <a:ext cx="411480" cy="41148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6766560" y="322783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Inversores de impacto</a:t>
            </a:r>
            <a:endParaRPr lang="en-US" sz="1200" dirty="0"/>
          </a:p>
        </p:txBody>
      </p:sp>
      <p:sp>
        <p:nvSpPr>
          <p:cNvPr id="35" name="Text 26"/>
          <p:cNvSpPr/>
          <p:nvPr/>
        </p:nvSpPr>
        <p:spPr>
          <a:xfrm>
            <a:off x="6766560" y="3685032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offices 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B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fondos de impacto social</a:t>
            </a:r>
            <a:endParaRPr lang="en-US" sz="1050" dirty="0"/>
          </a:p>
        </p:txBody>
      </p:sp>
      <p:sp>
        <p:nvSpPr>
          <p:cNvPr id="36" name="Shape 2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7" name="Text 28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B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usuario accede según su rol y necesidad.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BB88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91440"/>
            <a:ext cx="1097280" cy="8686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28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cambia con NexoSalud Legal?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74320" y="960120"/>
            <a:ext cx="3200400" cy="621792"/>
          </a:xfrm>
          <a:prstGeom prst="rect">
            <a:avLst/>
          </a:prstGeom>
          <a:solidFill>
            <a:srgbClr val="1A3050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11480" y="1005840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0C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Improvisación</a:t>
            </a:r>
            <a:endParaRPr lang="en-US" sz="1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4760" y="1088136"/>
            <a:ext cx="347472" cy="3474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87952" y="105156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BB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4754880" y="960120"/>
            <a:ext cx="4114800" cy="621792"/>
          </a:xfrm>
          <a:prstGeom prst="rect">
            <a:avLst/>
          </a:prstGeom>
          <a:solidFill>
            <a:srgbClr val="3A7D5A">
              <a:alpha val="80000"/>
            </a:srgbClr>
          </a:solidFill>
          <a:ln w="12700">
            <a:solidFill>
              <a:srgbClr val="5BB88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892040" y="1005840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Previsibilidad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274320" y="1764792"/>
            <a:ext cx="3200400" cy="621792"/>
          </a:xfrm>
          <a:prstGeom prst="rect">
            <a:avLst/>
          </a:prstGeom>
          <a:solidFill>
            <a:srgbClr val="1A3050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11480" y="1810512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0C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Paciente desprotegido</a:t>
            </a:r>
            <a:endParaRPr lang="en-US" sz="12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4760" y="1892808"/>
            <a:ext cx="347472" cy="3474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187952" y="1856232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BB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0"/>
          <p:cNvSpPr/>
          <p:nvPr/>
        </p:nvSpPr>
        <p:spPr>
          <a:xfrm>
            <a:off x="4754880" y="1764792"/>
            <a:ext cx="4114800" cy="621792"/>
          </a:xfrm>
          <a:prstGeom prst="rect">
            <a:avLst/>
          </a:prstGeom>
          <a:solidFill>
            <a:srgbClr val="3A7D5A">
              <a:alpha val="80000"/>
            </a:srgbClr>
          </a:solidFill>
          <a:ln w="12700">
            <a:solidFill>
              <a:srgbClr val="5BB88A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4892040" y="1810512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Mejor protección del paciente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274320" y="2569464"/>
            <a:ext cx="3200400" cy="621792"/>
          </a:xfrm>
          <a:prstGeom prst="rect">
            <a:avLst/>
          </a:prstGeom>
          <a:solidFill>
            <a:srgbClr val="1A3050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411480" y="2615184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0C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Baja calidad jurídica</a:t>
            </a:r>
            <a:endParaRPr lang="en-US" sz="12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94760" y="2697480"/>
            <a:ext cx="347472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187952" y="2660904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BB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5"/>
          <p:cNvSpPr/>
          <p:nvPr/>
        </p:nvSpPr>
        <p:spPr>
          <a:xfrm>
            <a:off x="4754880" y="2569464"/>
            <a:ext cx="4114800" cy="621792"/>
          </a:xfrm>
          <a:prstGeom prst="rect">
            <a:avLst/>
          </a:prstGeom>
          <a:solidFill>
            <a:srgbClr val="3A7D5A">
              <a:alpha val="80000"/>
            </a:srgbClr>
          </a:solidFill>
          <a:ln w="12700">
            <a:solidFill>
              <a:srgbClr val="5BB88A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4892040" y="2615184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Decisiones más fundamentadas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274320" y="3374136"/>
            <a:ext cx="3200400" cy="621792"/>
          </a:xfrm>
          <a:prstGeom prst="rect">
            <a:avLst/>
          </a:prstGeom>
          <a:solidFill>
            <a:srgbClr val="1A3050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411480" y="3419856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0C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Trazabilidad nula</a:t>
            </a:r>
            <a:endParaRPr lang="en-US" sz="120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94760" y="3502152"/>
            <a:ext cx="347472" cy="34747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187952" y="3465576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BB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7" name="Shape 20"/>
          <p:cNvSpPr/>
          <p:nvPr/>
        </p:nvSpPr>
        <p:spPr>
          <a:xfrm>
            <a:off x="4754880" y="3374136"/>
            <a:ext cx="4114800" cy="621792"/>
          </a:xfrm>
          <a:prstGeom prst="rect">
            <a:avLst/>
          </a:prstGeom>
          <a:solidFill>
            <a:srgbClr val="3A7D5A">
              <a:alpha val="80000"/>
            </a:srgbClr>
          </a:solidFill>
          <a:ln w="12700">
            <a:solidFill>
              <a:srgbClr val="5BB88A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4892040" y="3419856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Registro auditable completo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274320" y="4178808"/>
            <a:ext cx="3200400" cy="621792"/>
          </a:xfrm>
          <a:prstGeom prst="rect">
            <a:avLst/>
          </a:prstGeom>
          <a:solidFill>
            <a:srgbClr val="1A3050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411480" y="4224528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0C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Ética ignorada</a:t>
            </a:r>
            <a:endParaRPr lang="en-US" sz="1200" dirty="0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94760" y="4306824"/>
            <a:ext cx="347472" cy="34747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4187952" y="4270248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BB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3" name="Shape 25"/>
          <p:cNvSpPr/>
          <p:nvPr/>
        </p:nvSpPr>
        <p:spPr>
          <a:xfrm>
            <a:off x="4754880" y="4178808"/>
            <a:ext cx="4114800" cy="621792"/>
          </a:xfrm>
          <a:prstGeom prst="rect">
            <a:avLst/>
          </a:prstGeom>
          <a:solidFill>
            <a:srgbClr val="3A7D5A">
              <a:alpha val="80000"/>
            </a:srgbClr>
          </a:solidFill>
          <a:ln w="12700">
            <a:solidFill>
              <a:srgbClr val="5BB88A"/>
            </a:solidFill>
            <a:prstDash val="solid"/>
          </a:ln>
        </p:spPr>
      </p:sp>
      <p:sp>
        <p:nvSpPr>
          <p:cNvPr id="34" name="Text 26"/>
          <p:cNvSpPr/>
          <p:nvPr/>
        </p:nvSpPr>
        <p:spPr>
          <a:xfrm>
            <a:off x="4892040" y="4224528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Bioética integrada desde el inicio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3A7D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5BB88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del Proyecto &amp; Modelo de Negocio</a:t>
            </a:r>
            <a:endParaRPr lang="en-US" sz="2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54864"/>
            <a:ext cx="1097280" cy="868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114300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1143000"/>
            <a:ext cx="64008" cy="36576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" y="126187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actual</a:t>
            </a:r>
            <a:endParaRPr lang="en-US" sz="14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783080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04672" y="176479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legal y técnica completa</a:t>
            </a:r>
            <a:endParaRPr lang="en-US" sz="10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203704"/>
            <a:ext cx="292608" cy="2926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04672" y="21854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Protocolos operativos cerrados</a:t>
            </a:r>
            <a:endParaRPr lang="en-US" sz="10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624328"/>
            <a:ext cx="292608" cy="29260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04672" y="2606040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Anexos contractuales definidos</a:t>
            </a:r>
            <a:endParaRPr lang="en-US" sz="10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044952"/>
            <a:ext cx="292608" cy="29260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04672" y="30266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del fundador implementado</a:t>
            </a:r>
            <a:endParaRPr lang="en-US" sz="105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465576"/>
            <a:ext cx="292608" cy="292608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04672" y="344728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listo para piloto controlado</a:t>
            </a:r>
            <a:endParaRPr lang="en-US" sz="105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886200"/>
            <a:ext cx="292608" cy="292608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804672" y="38679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Ronda de inversión — búsqueda activa</a:t>
            </a:r>
            <a:endParaRPr lang="en-US" sz="1050" dirty="0"/>
          </a:p>
        </p:txBody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4306824"/>
            <a:ext cx="292608" cy="292608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804672" y="428853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Lanzamiento de piloto con clientes ancla</a:t>
            </a:r>
            <a:endParaRPr lang="en-US" sz="1050" dirty="0"/>
          </a:p>
        </p:txBody>
      </p:sp>
      <p:sp>
        <p:nvSpPr>
          <p:cNvPr id="23" name="Shape 13"/>
          <p:cNvSpPr/>
          <p:nvPr/>
        </p:nvSpPr>
        <p:spPr>
          <a:xfrm>
            <a:off x="4754880" y="1143000"/>
            <a:ext cx="411480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4" name="Shape 14"/>
          <p:cNvSpPr/>
          <p:nvPr/>
        </p:nvSpPr>
        <p:spPr>
          <a:xfrm>
            <a:off x="4754880" y="1143000"/>
            <a:ext cx="64008" cy="3657600"/>
          </a:xfrm>
          <a:prstGeom prst="rect">
            <a:avLst/>
          </a:prstGeom>
          <a:solidFill>
            <a:srgbClr val="3A7D5A"/>
          </a:solidFill>
          <a:ln/>
        </p:spPr>
      </p:sp>
      <p:sp>
        <p:nvSpPr>
          <p:cNvPr id="25" name="Text 15"/>
          <p:cNvSpPr/>
          <p:nvPr/>
        </p:nvSpPr>
        <p:spPr>
          <a:xfrm>
            <a:off x="4983480" y="126187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7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negocio</a:t>
            </a:r>
            <a:endParaRPr lang="en-US" sz="1400" dirty="0"/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9472" y="1810512"/>
            <a:ext cx="292608" cy="292608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5321808" y="179222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por admisión de caso</a:t>
            </a:r>
            <a:endParaRPr lang="en-US" sz="1100" dirty="0"/>
          </a:p>
        </p:txBody>
      </p:sp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9472" y="2267712"/>
            <a:ext cx="292608" cy="292608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5321808" y="224942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Honorarios por módulo</a:t>
            </a:r>
            <a:endParaRPr lang="en-US" sz="1100" dirty="0"/>
          </a:p>
        </p:txBody>
      </p:sp>
      <p:pic>
        <p:nvPicPr>
          <p:cNvPr id="30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19472" y="2724912"/>
            <a:ext cx="292608" cy="292608"/>
          </a:xfrm>
          <a:prstGeom prst="rect">
            <a:avLst/>
          </a:prstGeom>
        </p:spPr>
      </p:pic>
      <p:sp>
        <p:nvSpPr>
          <p:cNvPr id="31" name="Text 18"/>
          <p:cNvSpPr/>
          <p:nvPr/>
        </p:nvSpPr>
        <p:spPr>
          <a:xfrm>
            <a:off x="5321808" y="270662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Suscripciones institucionales B2B</a:t>
            </a:r>
            <a:endParaRPr lang="en-US" sz="1100" dirty="0"/>
          </a:p>
        </p:txBody>
      </p:sp>
      <p:pic>
        <p:nvPicPr>
          <p:cNvPr id="32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19472" y="3182112"/>
            <a:ext cx="292608" cy="292608"/>
          </a:xfrm>
          <a:prstGeom prst="rect">
            <a:avLst/>
          </a:prstGeom>
        </p:spPr>
      </p:pic>
      <p:sp>
        <p:nvSpPr>
          <p:cNvPr id="33" name="Text 19"/>
          <p:cNvSpPr/>
          <p:nvPr/>
        </p:nvSpPr>
        <p:spPr>
          <a:xfrm>
            <a:off x="5321808" y="316382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share con abogados</a:t>
            </a:r>
            <a:endParaRPr lang="en-US" sz="1100" dirty="0"/>
          </a:p>
        </p:txBody>
      </p:sp>
      <p:pic>
        <p:nvPicPr>
          <p:cNvPr id="34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19472" y="3639312"/>
            <a:ext cx="292608" cy="292608"/>
          </a:xfrm>
          <a:prstGeom prst="rect">
            <a:avLst/>
          </a:prstGeom>
        </p:spPr>
      </p:pic>
      <p:sp>
        <p:nvSpPr>
          <p:cNvPr id="35" name="Text 20"/>
          <p:cNvSpPr/>
          <p:nvPr/>
        </p:nvSpPr>
        <p:spPr>
          <a:xfrm>
            <a:off x="5321808" y="362102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Licenciamiento B2B</a:t>
            </a:r>
            <a:endParaRPr lang="en-US" sz="1100" dirty="0"/>
          </a:p>
        </p:txBody>
      </p:sp>
      <p:pic>
        <p:nvPicPr>
          <p:cNvPr id="36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19472" y="4096512"/>
            <a:ext cx="292608" cy="292608"/>
          </a:xfrm>
          <a:prstGeom prst="rect">
            <a:avLst/>
          </a:prstGeom>
        </p:spPr>
      </p:pic>
      <p:sp>
        <p:nvSpPr>
          <p:cNvPr id="37" name="Text 21"/>
          <p:cNvSpPr/>
          <p:nvPr/>
        </p:nvSpPr>
        <p:spPr>
          <a:xfrm>
            <a:off x="5321808" y="407822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premium — alto impacto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5486400" cy="5486400"/>
          </a:xfrm>
          <a:prstGeom prst="ellipse">
            <a:avLst/>
          </a:prstGeom>
          <a:solidFill>
            <a:srgbClr val="3A7D5A">
              <a:alpha val="13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286000"/>
            <a:ext cx="4114800" cy="4114800"/>
          </a:xfrm>
          <a:prstGeom prst="ellipse">
            <a:avLst/>
          </a:prstGeom>
          <a:solidFill>
            <a:srgbClr val="5BB88A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A7D5A"/>
          </a:solidFill>
          <a:ln/>
        </p:spPr>
      </p:sp>
      <p:sp>
        <p:nvSpPr>
          <p:cNvPr id="5" name="Shape 3"/>
          <p:cNvSpPr/>
          <p:nvPr/>
        </p:nvSpPr>
        <p:spPr>
          <a:xfrm>
            <a:off x="3383280" y="13716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201168"/>
            <a:ext cx="2194560" cy="12344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737360"/>
            <a:ext cx="8229600" cy="64008"/>
          </a:xfrm>
          <a:prstGeom prst="rect">
            <a:avLst/>
          </a:prstGeom>
          <a:solidFill>
            <a:srgbClr val="5BB88A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190195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NexoSalud Legal no promete milagros.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57200" y="242316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6B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Promete algo más importante: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097280" y="2926080"/>
            <a:ext cx="6949440" cy="777240"/>
          </a:xfrm>
          <a:prstGeom prst="rect">
            <a:avLst/>
          </a:prstGeom>
          <a:solidFill>
            <a:srgbClr val="3A7D5A">
              <a:alpha val="80000"/>
            </a:srgbClr>
          </a:solidFill>
          <a:ln/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1097280" y="292608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Orden, criterio y humanidad en los conflictos de salud.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914400" y="382219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E4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cuando la salud está en juego, el derecho no puede llegar tarde.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2286000" y="4370832"/>
            <a:ext cx="4572000" cy="457200"/>
          </a:xfrm>
          <a:prstGeom prst="roundRect">
            <a:avLst>
              <a:gd name="adj" fmla="val 16000"/>
            </a:avLst>
          </a:prstGeom>
          <a:solidFill>
            <a:srgbClr val="5BB88A"/>
          </a:solidFill>
          <a:ln/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2286000" y="437083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Conversemos — NexoSalud Legal está lista para su primer piloto.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703</Words>
  <Application>Microsoft Office PowerPoint</Application>
  <PresentationFormat>Presentación en pantalla (16:9)</PresentationFormat>
  <Paragraphs>162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NexoSalud Legal – Pitch Deck</dc:title>
  <dc:subject>PptxGenJS Presentation</dc:subject>
  <dc:creator>NexoSalud Legal</dc:creator>
  <cp:lastModifiedBy>MANUEL</cp:lastModifiedBy>
  <cp:revision>3</cp:revision>
  <dcterms:created xsi:type="dcterms:W3CDTF">2026-02-12T20:14:35Z</dcterms:created>
  <dcterms:modified xsi:type="dcterms:W3CDTF">2026-02-12T20:43:09Z</dcterms:modified>
</cp:coreProperties>
</file>